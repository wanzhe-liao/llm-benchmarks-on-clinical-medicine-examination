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55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8534095" y="0"/>
            <a:ext cx="3657600" cy="2743200"/>
          </a:xfrm>
          <a:prstGeom prst="rect">
            <a:avLst/>
          </a:prstGeom>
          <a:solidFill>
            <a:srgbClr val="44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9448495" y="2743200"/>
            <a:ext cx="2743200" cy="2743200"/>
          </a:xfrm>
          <a:prstGeom prst="rtTriangle">
            <a:avLst/>
          </a:prstGeom>
          <a:solidFill>
            <a:srgbClr val="D99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大语言模型在医学考试评估中的表现研究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C864"/>
                </a:solidFill>
                <a:latin typeface="Arial"/>
              </a:defRPr>
            </a:pPr>
            <a:r>
              <a:t>Evaluating Large Language Models in Medical Exam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学术会议演示</a:t>
            </a:r>
          </a:p>
          <a:p>
            <a:pPr>
              <a:defRPr sz="1600">
                <a:solidFill>
                  <a:srgbClr val="447862"/>
                </a:solidFill>
              </a:defRPr>
            </a:pPr>
            <a:r>
              <a:t>研究团队 | 2024年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5543"/>
                </a:solidFill>
                <a:latin typeface="Arial"/>
              </a:defRPr>
            </a:pPr>
            <a:r>
              <a:t>报告大纲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25400"/>
          </a:xfrm>
          <a:prstGeom prst="rect">
            <a:avLst/>
          </a:prstGeom>
          <a:solidFill>
            <a:srgbClr val="D99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942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研究背景与目标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rial"/>
              </a:defRPr>
            </a:pPr>
            <a:r>
              <a:t>Background &amp;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942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研究方法与设计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rial"/>
              </a:defRPr>
            </a:pPr>
            <a:r>
              <a:t>Methodology &amp;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942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基线协议结果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rial"/>
              </a:defRPr>
            </a:pPr>
            <a:r>
              <a:t>Baseline Protocol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9425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智能体协议结果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rial"/>
              </a:defRPr>
            </a:pPr>
            <a:r>
              <a:t>Agent Protocol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9425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安全性悖论分析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rial"/>
              </a:defRPr>
            </a:pPr>
            <a:r>
              <a:t>Safety Paradox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9425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关键洞察与结论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rial"/>
              </a:defRPr>
            </a:pPr>
            <a:r>
              <a:t>Key Insights &amp;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5543"/>
                </a:solidFill>
                <a:latin typeface="Arial"/>
              </a:defRPr>
            </a:pPr>
            <a:r>
              <a:t>研究背景与目标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25400"/>
          </a:xfrm>
          <a:prstGeom prst="rect">
            <a:avLst/>
          </a:prstGeom>
          <a:solidFill>
            <a:srgbClr val="D99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• 大语言模型(LLM)在医疗领域的应用潜力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• 医学考试评估的标准化需求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• 现有研究缺乏系统性对比分析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研究目标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• 评估11个LLM在西医综合考试的表现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• 对比基线协议与智能体工作流效果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• 分析安全性悖论(AIRA现象)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1828800" cy="1097280"/>
          </a:xfrm>
          <a:prstGeom prst="roundRect">
            <a:avLst/>
          </a:prstGeom>
          <a:solidFill>
            <a:srgbClr val="225543"/>
          </a:solidFill>
          <a:ln w="12700">
            <a:solidFill>
              <a:srgbClr val="225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评估模型数量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4114800"/>
            <a:ext cx="1828800" cy="1097280"/>
          </a:xfrm>
          <a:prstGeom prst="roundRect">
            <a:avLst/>
          </a:prstGeom>
          <a:solidFill>
            <a:srgbClr val="D99425"/>
          </a:solidFill>
          <a:ln w="12700">
            <a:solidFill>
              <a:srgbClr val="D99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165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题目数量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4114800"/>
            <a:ext cx="1828800" cy="109728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18,150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总评估次数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114800"/>
            <a:ext cx="1828800" cy="1097280"/>
          </a:xfrm>
          <a:prstGeom prst="roundRect">
            <a:avLst/>
          </a:prstGeom>
          <a:solidFill>
            <a:srgbClr val="A855F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5次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重复试验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4114800"/>
            <a:ext cx="1828800" cy="10972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2种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评估协议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5543"/>
                </a:solidFill>
                <a:latin typeface="Arial"/>
              </a:defRPr>
            </a:pPr>
            <a:r>
              <a:t>研究方法与设计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25400"/>
          </a:xfrm>
          <a:prstGeom prst="rect">
            <a:avLst/>
          </a:prstGeom>
          <a:solidFill>
            <a:srgbClr val="D99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两种评估协议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3035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25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5543"/>
                </a:solidFill>
                <a:latin typeface="Arial"/>
              </a:defRPr>
            </a:pPr>
            <a:r>
              <a:t>基线协议 (Baseline)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Arial"/>
              </a:defRPr>
            </a:pPr>
            <a:r>
              <a:t>直接提示 (Direct Prompting)</a:t>
            </a:r>
            <a:br/>
            <a:br/>
            <a:r>
              <a:t>模型接收题目后直接输出答案</a:t>
            </a:r>
            <a:br/>
            <a:r>
              <a:t>无额外推理或反思步骤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011680"/>
            <a:ext cx="53035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9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9425"/>
                </a:solidFill>
                <a:latin typeface="Arial"/>
              </a:defRPr>
            </a:pPr>
            <a:r>
              <a:t>智能体工作流 (Agent)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517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Arial"/>
              </a:defRPr>
            </a:pPr>
            <a:r>
              <a:t>Planner-Reasoner-Critic</a:t>
            </a:r>
            <a:br/>
            <a:br/>
            <a:r>
              <a:t>• Planner: 分解问题</a:t>
            </a:r>
            <a:br/>
            <a:r>
              <a:t>• Reasoner: 逐步推理</a:t>
            </a:r>
            <a:br/>
            <a:r>
              <a:t>• Critic: 自我批评与修正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评估流程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1645920" cy="548640"/>
          </a:xfrm>
          <a:prstGeom prst="roundRect">
            <a:avLst/>
          </a:prstGeom>
          <a:solidFill>
            <a:srgbClr val="225543"/>
          </a:solidFill>
          <a:ln w="12700">
            <a:solidFill>
              <a:srgbClr val="225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165道题目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5303520"/>
            <a:ext cx="1645920" cy="548640"/>
          </a:xfrm>
          <a:prstGeom prst="roundRect">
            <a:avLst/>
          </a:prstGeom>
          <a:solidFill>
            <a:srgbClr val="D99425"/>
          </a:solidFill>
          <a:ln w="12700">
            <a:solidFill>
              <a:srgbClr val="D99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11个LLM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5303520"/>
            <a:ext cx="1645920" cy="548640"/>
          </a:xfrm>
          <a:prstGeom prst="roundRect">
            <a:avLst/>
          </a:prstGeom>
          <a:solidFill>
            <a:srgbClr val="225543"/>
          </a:solidFill>
          <a:ln w="12700">
            <a:solidFill>
              <a:srgbClr val="225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每组5次重复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075920" y="5303520"/>
            <a:ext cx="1645920" cy="548640"/>
          </a:xfrm>
          <a:prstGeom prst="roundRect">
            <a:avLst/>
          </a:prstGeom>
          <a:solidFill>
            <a:srgbClr val="D99425"/>
          </a:solidFill>
          <a:ln w="12700">
            <a:solidFill>
              <a:srgbClr val="D99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0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总计18,150次评估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5543"/>
                </a:solidFill>
                <a:latin typeface="Arial"/>
              </a:defRPr>
            </a:pPr>
            <a:r>
              <a:t>基线协议结果 - 模型准确率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25400"/>
          </a:xfrm>
          <a:prstGeom prst="rect">
            <a:avLst/>
          </a:prstGeom>
          <a:solidFill>
            <a:srgbClr val="D99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8288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Gemini 3 Pro Preview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2011680"/>
            <a:ext cx="8686800" cy="25353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68880" y="2011680"/>
            <a:ext cx="8160379" cy="25353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011680"/>
            <a:ext cx="4572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75569"/>
                </a:solidFill>
                <a:latin typeface="Arial"/>
              </a:defRPr>
            </a:pPr>
            <a:r>
              <a:t>93.9%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02378"/>
            <a:ext cx="18288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Claude 3.5 Sonnet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402378"/>
            <a:ext cx="8686800" cy="25353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68880" y="2402378"/>
            <a:ext cx="8002280" cy="25353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2402378"/>
            <a:ext cx="4572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75569"/>
                </a:solidFill>
                <a:latin typeface="Arial"/>
              </a:defRPr>
            </a:pPr>
            <a:r>
              <a:t>92.1%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93076"/>
            <a:ext cx="18288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GPT-4 Turbo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2793076"/>
            <a:ext cx="8686800" cy="25353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68880" y="2793076"/>
            <a:ext cx="7950159" cy="25353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0" y="2793076"/>
            <a:ext cx="4572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75569"/>
                </a:solidFill>
                <a:latin typeface="Arial"/>
              </a:defRPr>
            </a:pPr>
            <a:r>
              <a:t>91.5%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83774"/>
            <a:ext cx="18288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Gemini 1.5 Pro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3183774"/>
            <a:ext cx="8686800" cy="25353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68880" y="3183774"/>
            <a:ext cx="7897169" cy="25353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0" y="3183774"/>
            <a:ext cx="4572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75569"/>
                </a:solidFill>
                <a:latin typeface="Arial"/>
              </a:defRPr>
            </a:pPr>
            <a:r>
              <a:t>90.9%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74472"/>
            <a:ext cx="18288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GPT-4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3574472"/>
            <a:ext cx="8686800" cy="25353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68880" y="3574472"/>
            <a:ext cx="7792059" cy="253538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0" y="3574472"/>
            <a:ext cx="4572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75569"/>
                </a:solidFill>
                <a:latin typeface="Arial"/>
              </a:defRPr>
            </a:pPr>
            <a:r>
              <a:t>89.7%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65170"/>
            <a:ext cx="18288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Claude 3 Opus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3965170"/>
            <a:ext cx="8686800" cy="25353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68880" y="3965170"/>
            <a:ext cx="7686080" cy="253538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0" y="3965170"/>
            <a:ext cx="4572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75569"/>
                </a:solidFill>
                <a:latin typeface="Arial"/>
              </a:defRPr>
            </a:pPr>
            <a:r>
              <a:t>88.5%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55869"/>
            <a:ext cx="18288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Claude 3 Sonnet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68880" y="4355869"/>
            <a:ext cx="8686800" cy="25353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68880" y="4355869"/>
            <a:ext cx="7607899" cy="253538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0" y="4355869"/>
            <a:ext cx="4572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75569"/>
                </a:solidFill>
                <a:latin typeface="Arial"/>
              </a:defRPr>
            </a:pPr>
            <a:r>
              <a:t>87.6%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46567"/>
            <a:ext cx="18288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Llama 3 70B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68880" y="4746567"/>
            <a:ext cx="8686800" cy="25353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468880" y="4746567"/>
            <a:ext cx="7475860" cy="25353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55680" y="4746567"/>
            <a:ext cx="4572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75569"/>
                </a:solidFill>
                <a:latin typeface="Arial"/>
              </a:defRPr>
            </a:pPr>
            <a:r>
              <a:t>86.1%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137265"/>
            <a:ext cx="18288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GPT-3.5 Turbo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68880" y="5137265"/>
            <a:ext cx="8686800" cy="25353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468880" y="5137265"/>
            <a:ext cx="7344689" cy="25353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55680" y="5137265"/>
            <a:ext cx="4572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75569"/>
                </a:solidFill>
                <a:latin typeface="Arial"/>
              </a:defRPr>
            </a:pPr>
            <a:r>
              <a:t>84.5%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527963"/>
            <a:ext cx="18288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GPT OSS 20B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68880" y="5527963"/>
            <a:ext cx="8686800" cy="25353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68880" y="5527963"/>
            <a:ext cx="7128388" cy="25353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5680" y="5527963"/>
            <a:ext cx="4572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75569"/>
                </a:solidFill>
                <a:latin typeface="Arial"/>
              </a:defRPr>
            </a:pPr>
            <a:r>
              <a:t>82.1%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918661"/>
            <a:ext cx="18288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GPT OSS 120B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68880" y="5918661"/>
            <a:ext cx="8686800" cy="25353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468880" y="5918661"/>
            <a:ext cx="6570695" cy="25353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155680" y="5918661"/>
            <a:ext cx="45720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75569"/>
                </a:solidFill>
                <a:latin typeface="Arial"/>
              </a:defRPr>
            </a:pPr>
            <a:r>
              <a:t>75.6%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rial"/>
              </a:defRPr>
            </a:pPr>
            <a:r>
              <a:t>准确率范围: 75.64% - 93.94%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5543"/>
                </a:solidFill>
                <a:latin typeface="Arial"/>
              </a:defRPr>
            </a:pPr>
            <a:r>
              <a:t>基线协议结果 - 绝对冷点分析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25400"/>
          </a:xfrm>
          <a:prstGeom prst="rect">
            <a:avLst/>
          </a:prstGeom>
          <a:solidFill>
            <a:srgbClr val="D99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绝对冷点定义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Arial"/>
              </a:defRPr>
            </a:pPr>
            <a:r>
              <a:t>所有11个模型在5次重复试验中</a:t>
            </a:r>
            <a:br/>
            <a:r>
              <a:t>均无法正确回答的题目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F4444"/>
                </a:solidFill>
                <a:latin typeface="Arial"/>
              </a:defRPr>
            </a:pPr>
            <a:r>
              <a:t>5道绝对冷点题目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640080" cy="45720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86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840480"/>
            <a:ext cx="640080" cy="45720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886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840480"/>
            <a:ext cx="640080" cy="45720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3886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3840480"/>
            <a:ext cx="640080" cy="45720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886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840480"/>
            <a:ext cx="640080" cy="45720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886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基础医学 vs 临床医学准确率差距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GPT OSS 120B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011680"/>
            <a:ext cx="2570378" cy="2743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2011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F4444"/>
                </a:solidFill>
                <a:latin typeface="Arial"/>
              </a:defRPr>
            </a:pPr>
            <a:r>
              <a:t>-9.37pp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GPT OSS 20B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377440"/>
            <a:ext cx="1903780" cy="2743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0" y="2377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F4444"/>
                </a:solidFill>
                <a:latin typeface="Arial"/>
              </a:defRPr>
            </a:pPr>
            <a:r>
              <a:t>-6.94pp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Llama 3 70B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743200"/>
            <a:ext cx="1212494" cy="27432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0" y="27432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97316"/>
                </a:solidFill>
                <a:latin typeface="Arial"/>
              </a:defRPr>
            </a:pPr>
            <a:r>
              <a:t>-4.42pp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Claude 3 Sonnet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108960"/>
            <a:ext cx="598017" cy="27432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0" y="3108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97316"/>
                </a:solidFill>
                <a:latin typeface="Arial"/>
              </a:defRPr>
            </a:pPr>
            <a:r>
              <a:t>-2.18pp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Claude 3 Opus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474720"/>
            <a:ext cx="315467" cy="27432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0" y="3474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  <a:latin typeface="Arial"/>
              </a:defRPr>
            </a:pPr>
            <a:r>
              <a:t>-1.15pp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GPT-3.5 Turbo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840480"/>
            <a:ext cx="200253" cy="27432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55680" y="3840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  <a:latin typeface="Arial"/>
              </a:defRPr>
            </a:pPr>
            <a:r>
              <a:t>-0.73pp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GPT-4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206240"/>
            <a:ext cx="282549" cy="27432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0" y="4206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  <a:latin typeface="Arial"/>
              </a:defRPr>
            </a:pPr>
            <a:r>
              <a:t>+1.03pp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Claude 3.5 Sonnet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4572000"/>
            <a:ext cx="732434" cy="2743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55680" y="4572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14B8A6"/>
                </a:solidFill>
                <a:latin typeface="Arial"/>
              </a:defRPr>
            </a:pPr>
            <a:r>
              <a:t>+2.67pp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Gemini 1.5 Pro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4937760"/>
            <a:ext cx="831189" cy="2743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55680" y="4937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14B8A6"/>
                </a:solidFill>
                <a:latin typeface="Arial"/>
              </a:defRPr>
            </a:pPr>
            <a:r>
              <a:t>+3.03pp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5303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Gemini 3 Pro Preview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5303520"/>
            <a:ext cx="1316736" cy="27432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155680" y="5303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22C55E"/>
                </a:solidFill>
                <a:latin typeface="Arial"/>
              </a:defRPr>
            </a:pPr>
            <a:r>
              <a:t>+4.80pp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5943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rial"/>
              </a:defRPr>
            </a:pPr>
            <a:r>
              <a:t>负值表示临床医学准确率低于基础医学，正值反之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5543"/>
                </a:solidFill>
                <a:latin typeface="Arial"/>
              </a:defRPr>
            </a:pPr>
            <a:r>
              <a:t>智能体协议结果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25400"/>
          </a:xfrm>
          <a:prstGeom prst="rect">
            <a:avLst/>
          </a:prstGeom>
          <a:solidFill>
            <a:srgbClr val="D99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整体趋势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• 准确率范围: 70.42% - 90.30%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• 整体准确率下降: -2.53个百分点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• 仅2/11模型改善，9/11模型下降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• 新增智能体特定冷点: 第137题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模型表现变化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Arial"/>
              </a:defRPr>
            </a:pPr>
            <a:r>
              <a:t>改善 (2个)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75569"/>
                </a:solidFill>
                <a:latin typeface="Arial"/>
              </a:defRPr>
            </a:pPr>
            <a:r>
              <a:t>• GPT OSS 120B (+2.53pp)</a:t>
            </a:r>
            <a:br/>
            <a:r>
              <a:t>• GPT-4 Turbo (+0.67pp)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Arial"/>
              </a:defRPr>
            </a:pPr>
            <a:r>
              <a:t>下降 (9个)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75569"/>
                </a:solidFill>
                <a:latin typeface="Arial"/>
              </a:defRPr>
            </a:pPr>
            <a:r>
              <a:t>• Gemini 3 Pro Preview (-3.64pp)</a:t>
            </a:r>
            <a:br/>
            <a:r>
              <a:t>• Claude 3.5 Sonnet (-3.21pp)</a:t>
            </a:r>
            <a:br/>
            <a:r>
              <a:t>• GPT-4 (-2.91pp)</a:t>
            </a:r>
            <a:br/>
            <a:r>
              <a:t>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基线 vs 智能体协议对比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GPT OSS 120B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5074920"/>
            <a:ext cx="6570695" cy="914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48135" y="5074920"/>
            <a:ext cx="6790471" cy="91440"/>
          </a:xfrm>
          <a:prstGeom prst="roundRect">
            <a:avLst/>
          </a:prstGeom>
          <a:solidFill>
            <a:srgbClr val="225543"/>
          </a:solidFill>
          <a:ln>
            <a:solidFill>
              <a:srgbClr val="225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0" y="5074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22C55E"/>
                </a:solidFill>
                <a:latin typeface="Arial"/>
              </a:defRPr>
            </a:pPr>
            <a:r>
              <a:t>+2.5pp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49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Gemini 3 Pro Preview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349240"/>
            <a:ext cx="8160379" cy="914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37819" y="5349240"/>
            <a:ext cx="7844180" cy="91440"/>
          </a:xfrm>
          <a:prstGeom prst="roundRect">
            <a:avLst/>
          </a:prstGeom>
          <a:solidFill>
            <a:srgbClr val="225543"/>
          </a:solidFill>
          <a:ln>
            <a:solidFill>
              <a:srgbClr val="225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5349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F4444"/>
                </a:solidFill>
                <a:latin typeface="Arial"/>
              </a:defRPr>
            </a:pPr>
            <a:r>
              <a:t>-3.6pp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23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Claude 3.5 Sonnet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5623560"/>
            <a:ext cx="8002280" cy="914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79720" y="5623560"/>
            <a:ext cx="7723433" cy="91440"/>
          </a:xfrm>
          <a:prstGeom prst="roundRect">
            <a:avLst/>
          </a:prstGeom>
          <a:solidFill>
            <a:srgbClr val="225543"/>
          </a:solidFill>
          <a:ln>
            <a:solidFill>
              <a:srgbClr val="225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5623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F4444"/>
                </a:solidFill>
                <a:latin typeface="Arial"/>
              </a:defRPr>
            </a:pPr>
            <a:r>
              <a:t>-3.2pp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GPT-4 Turbo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5897880"/>
            <a:ext cx="7950159" cy="914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27599" y="5897880"/>
            <a:ext cx="8008360" cy="91440"/>
          </a:xfrm>
          <a:prstGeom prst="roundRect">
            <a:avLst/>
          </a:prstGeom>
          <a:solidFill>
            <a:srgbClr val="225543"/>
          </a:solidFill>
          <a:ln>
            <a:solidFill>
              <a:srgbClr val="225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0" y="5897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22C55E"/>
                </a:solidFill>
                <a:latin typeface="Arial"/>
              </a:defRPr>
            </a:pPr>
            <a:r>
              <a:t>+0.7pp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72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rial"/>
              </a:defRPr>
            </a:pPr>
            <a:r>
              <a:t>Claude 3 Opus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6172200"/>
            <a:ext cx="7686080" cy="914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63520" y="6172200"/>
            <a:ext cx="7518425" cy="91440"/>
          </a:xfrm>
          <a:prstGeom prst="roundRect">
            <a:avLst/>
          </a:prstGeom>
          <a:solidFill>
            <a:srgbClr val="225543"/>
          </a:solidFill>
          <a:ln>
            <a:solidFill>
              <a:srgbClr val="225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0" y="6172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F4444"/>
                </a:solidFill>
                <a:latin typeface="Arial"/>
              </a:defRPr>
            </a:pPr>
            <a:r>
              <a:t>-1.9pp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rial"/>
              </a:defRPr>
            </a:pPr>
            <a:r>
              <a:t>■ 基线  ■ 智能体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5543"/>
                </a:solidFill>
                <a:latin typeface="Arial"/>
              </a:defRPr>
            </a:pPr>
            <a:r>
              <a:t>安全性悖论 (AIRA分析)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25400"/>
          </a:xfrm>
          <a:prstGeom prst="rect">
            <a:avLst/>
          </a:prstGeom>
          <a:solidFill>
            <a:srgbClr val="D99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AIRA现象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Arial"/>
              </a:defRPr>
            </a:pPr>
            <a:r>
              <a:t>医源性错误 (Iatrogenic Error)</a:t>
            </a:r>
            <a:br/>
            <a:r>
              <a:t>基线正确 → 智能体错误</a:t>
            </a:r>
            <a:br/>
            <a:br/>
            <a:r>
              <a:t>有效挽救 (Effective Salvage)</a:t>
            </a:r>
            <a:br/>
            <a:r>
              <a:t>基线错误 → 智能体正确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2286000" cy="1645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医源性错误</a:t>
            </a:r>
            <a:br/>
            <a:r>
              <a:t>(正确→错误)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3931920"/>
            <a:ext cx="2286000" cy="164592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有效挽救</a:t>
            </a:r>
            <a:br/>
            <a:r>
              <a:t>(错误→正确)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3931920"/>
            <a:ext cx="2286000" cy="1645920"/>
          </a:xfrm>
          <a:prstGeom prst="roundRect">
            <a:avLst/>
          </a:prstGeom>
          <a:solidFill>
            <a:srgbClr val="D99425"/>
          </a:solidFill>
          <a:ln w="12700">
            <a:solidFill>
              <a:srgbClr val="D99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1.42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损害-挽救比</a:t>
            </a:r>
            <a:br/>
            <a:r>
              <a:t>(p=0.0276)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统计检验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92024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• 配对符号检验 (Paired Sign Test)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• p值 = 0.0276 (统计显著)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• BH-FDR校正后</a:t>
            </a:r>
          </a:p>
          <a:p>
            <a:pPr>
              <a:spcBef>
                <a:spcPts val="8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• GPT OSS 20B 显示显著负面效应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F4444"/>
                </a:solidFill>
                <a:latin typeface="Arial"/>
              </a:defRPr>
            </a:pPr>
            <a:r>
              <a:t>核心发现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智能体工作流在医学问答场景中存在安全性悖论:</a:t>
            </a:r>
            <a:br/>
            <a:r>
              <a:t>多步推理可能稳定化错误答案，而非纠正错误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5543"/>
                </a:solidFill>
                <a:latin typeface="Arial"/>
              </a:defRPr>
            </a:pPr>
            <a:r>
              <a:t>关键洞察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25400"/>
          </a:xfrm>
          <a:prstGeom prst="rect">
            <a:avLst/>
          </a:prstGeom>
          <a:solidFill>
            <a:srgbClr val="D99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温度=0仍存在变异性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t>即使设置temperature=0，模型在不同试验中仍产生变异性结果</a:t>
            </a:r>
            <a:br/>
            <a:r>
              <a:t>提示存在下界不确定性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"自信失败"模式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t>多步推理可能稳定化错误答案</a:t>
            </a:r>
            <a:br/>
            <a:r>
              <a:t>智能体工作流在某些情况下反而降低准确率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486400" cy="228600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冷点持续存在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t>绝对冷点在基线协议和智能体协议下均持续存在</a:t>
            </a:r>
            <a:br/>
            <a:r>
              <a:t>需要针对这些题目进行专项优化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486400" cy="2286000"/>
          </a:xfrm>
          <a:prstGeom prst="roundRect">
            <a:avLst/>
          </a:prstGeom>
          <a:solidFill>
            <a:srgbClr val="A855F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外部验证的必要性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t>不能仅依赖自我批评</a:t>
            </a:r>
            <a:br/>
            <a:r>
              <a:t>需要引入外部验证机制以确保答案可靠性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5543"/>
                </a:solidFill>
                <a:latin typeface="Arial"/>
              </a:defRPr>
            </a:pPr>
            <a:r>
              <a:t>研究结论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25400"/>
          </a:xfrm>
          <a:prstGeom prst="rect">
            <a:avLst/>
          </a:prstGeom>
          <a:solidFill>
            <a:srgbClr val="D99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225543"/>
          </a:solidFill>
          <a:ln>
            <a:solidFill>
              <a:srgbClr val="225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Arial"/>
              </a:defRPr>
            </a:pPr>
            <a:r>
              <a:t>LLM在医学考试中的表现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Arial"/>
              </a:defRPr>
            </a:pPr>
            <a:r>
              <a:t>最佳模型(Gemini 3 Pro Preview)准确率达93.94%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743200"/>
            <a:ext cx="548640" cy="548640"/>
          </a:xfrm>
          <a:prstGeom prst="ellipse">
            <a:avLst/>
          </a:prstGeom>
          <a:solidFill>
            <a:srgbClr val="225543"/>
          </a:solidFill>
          <a:ln>
            <a:solidFill>
              <a:srgbClr val="225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529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Arial"/>
              </a:defRPr>
            </a:pPr>
            <a:r>
              <a:t>智能体工作流的局限性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54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Arial"/>
              </a:defRPr>
            </a:pPr>
            <a:r>
              <a:t>多步推理在医学场景中可能导致准确率下降(-2.53pp)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225543"/>
          </a:solidFill>
          <a:ln>
            <a:solidFill>
              <a:srgbClr val="225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133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Arial"/>
              </a:defRPr>
            </a:pPr>
            <a:r>
              <a:t>安全性悖论存在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34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Arial"/>
              </a:defRPr>
            </a:pPr>
            <a:r>
              <a:t>损害-挽救比1.42，智能体工作流可能引入新的错误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548640" cy="548640"/>
          </a:xfrm>
          <a:prstGeom prst="ellipse">
            <a:avLst/>
          </a:prstGeom>
          <a:solidFill>
            <a:srgbClr val="225543"/>
          </a:solidFill>
          <a:ln>
            <a:solidFill>
              <a:srgbClr val="225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4132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Arial"/>
              </a:defRPr>
            </a:pPr>
            <a:r>
              <a:t>需要外部验证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715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Arial"/>
              </a:defRPr>
            </a:pPr>
            <a:r>
              <a:t>自我批评机制不足以保证答案可靠性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669280"/>
            <a:ext cx="1097280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25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5543"/>
                </a:solidFill>
                <a:latin typeface="Arial"/>
              </a:defRPr>
            </a:pPr>
            <a:r>
              <a:t>未来方向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72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75569"/>
                </a:solidFill>
                <a:latin typeface="Arial"/>
              </a:defRPr>
            </a:pPr>
            <a:r>
              <a:t>针对冷点题目的专项优化 | 引入外部知识库验证 | 探索更安全的医学问答工作流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55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ight Triangle 3"/>
          <p:cNvSpPr/>
          <p:nvPr/>
        </p:nvSpPr>
        <p:spPr>
          <a:xfrm>
            <a:off x="0" y="4114800"/>
            <a:ext cx="3657600" cy="2743200"/>
          </a:xfrm>
          <a:prstGeom prst="rtTriangle">
            <a:avLst/>
          </a:prstGeom>
          <a:solidFill>
            <a:srgbClr val="44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48495" y="0"/>
            <a:ext cx="2743200" cy="1828800"/>
          </a:xfrm>
          <a:prstGeom prst="rect">
            <a:avLst/>
          </a:prstGeom>
          <a:solidFill>
            <a:srgbClr val="D99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0C864"/>
                </a:solidFill>
                <a:latin typeface="Arial"/>
              </a:defRPr>
            </a:pPr>
            <a:r>
              <a:t>Thank You for Your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欢迎提问与讨论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